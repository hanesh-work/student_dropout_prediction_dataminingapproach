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84" r:id="rId6"/>
    <p:sldId id="276" r:id="rId7"/>
    <p:sldId id="277" r:id="rId8"/>
    <p:sldId id="278" r:id="rId9"/>
    <p:sldId id="273" r:id="rId10"/>
    <p:sldId id="283" r:id="rId11"/>
    <p:sldId id="285" r:id="rId12"/>
    <p:sldId id="266" r:id="rId13"/>
    <p:sldId id="287" r:id="rId14"/>
    <p:sldId id="271" r:id="rId15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130" autoAdjust="0"/>
    <p:restoredTop sz="40466" autoAdjust="0"/>
  </p:normalViewPr>
  <p:slideViewPr>
    <p:cSldViewPr snapToGrid="0" snapToObjects="1">
      <p:cViewPr varScale="1">
        <p:scale>
          <a:sx n="58" d="100"/>
          <a:sy n="58" d="100"/>
        </p:scale>
        <p:origin x="22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E9CC1-C706-0F49-92D6-E571CC5EEA8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400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8D1CC-BDE1-A446-EC53-3E245674B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B18D5D-D541-D8D8-D329-3F732EA739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9A045E-E4F9-1E5E-ECC0-3835BDE3C3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75C6B-F0B3-5313-0540-D4BB81DD0A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6651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3B37D-12B5-4A09-9A8D-0B24212EACCD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7EBC-C739-4654-BF1B-7D8DC1934B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3B37D-12B5-4A09-9A8D-0B24212EACCD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7EBC-C739-4654-BF1B-7D8DC1934B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3B37D-12B5-4A09-9A8D-0B24212EACCD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7EBC-C739-4654-BF1B-7D8DC1934B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3B37D-12B5-4A09-9A8D-0B24212EACCD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7EBC-C739-4654-BF1B-7D8DC1934B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3B37D-12B5-4A09-9A8D-0B24212EACCD}" type="datetimeFigureOut">
              <a:rPr lang="en-US" smtClean="0"/>
              <a:t>6/22/26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7EBC-C739-4654-BF1B-7D8DC1934B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3B37D-12B5-4A09-9A8D-0B24212EACCD}" type="datetimeFigureOut">
              <a:rPr lang="en-US" smtClean="0"/>
              <a:t>6/22/26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7EBC-C739-4654-BF1B-7D8DC1934B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3B37D-12B5-4A09-9A8D-0B24212EACCD}" type="datetimeFigureOut">
              <a:rPr lang="en-US" smtClean="0"/>
              <a:t>6/22/26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7EBC-C739-4654-BF1B-7D8DC1934B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3B37D-12B5-4A09-9A8D-0B24212EACCD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7EBC-C739-4654-BF1B-7D8DC1934B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3B37D-12B5-4A09-9A8D-0B24212EACCD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7EBC-C739-4654-BF1B-7D8DC1934B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3B37D-12B5-4A09-9A8D-0B24212EACCD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7EBC-C739-4654-BF1B-7D8DC1934B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3B37D-12B5-4A09-9A8D-0B24212EACCD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7EBC-C739-4654-BF1B-7D8DC1934B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23B37D-12B5-4A09-9A8D-0B24212EACCD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817EBC-C739-4654-BF1B-7D8DC1934BE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9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4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331470" y="1936750"/>
            <a:ext cx="8850630" cy="10979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>
              <a:lnSpc>
                <a:spcPts val="7200"/>
              </a:lnSpc>
            </a:pPr>
            <a:r>
              <a:rPr lang="en-US" sz="2000" b="1" dirty="0"/>
              <a:t>Predicting Student Success: A Data Mining Approach to Retention</a:t>
            </a:r>
          </a:p>
        </p:txBody>
      </p:sp>
      <p:sp>
        <p:nvSpPr>
          <p:cNvPr id="3" name="Text 1"/>
          <p:cNvSpPr/>
          <p:nvPr/>
        </p:nvSpPr>
        <p:spPr>
          <a:xfrm>
            <a:off x="2164715" y="2565838"/>
            <a:ext cx="6354445" cy="923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>
              <a:lnSpc>
                <a:spcPts val="3360"/>
              </a:lnSpc>
            </a:pPr>
            <a:r>
              <a:rPr lang="en-US" sz="1400" dirty="0"/>
              <a:t>Analysis of Academic, Socio-Economic, and Demographic Factors</a:t>
            </a:r>
          </a:p>
        </p:txBody>
      </p:sp>
      <p:sp>
        <p:nvSpPr>
          <p:cNvPr id="4" name="Text 2"/>
          <p:cNvSpPr/>
          <p:nvPr/>
        </p:nvSpPr>
        <p:spPr>
          <a:xfrm>
            <a:off x="2839720" y="3272155"/>
            <a:ext cx="3463925" cy="1098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60"/>
              </a:lnSpc>
              <a:buNone/>
            </a:pPr>
            <a:endParaRPr lang="en-US" sz="1050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ctr">
              <a:lnSpc>
                <a:spcPts val="1960"/>
              </a:lnSpc>
              <a:buNone/>
            </a:pPr>
            <a:endParaRPr lang="en-US" sz="1050" dirty="0">
              <a:solidFill>
                <a:srgbClr val="FFFFFF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 algn="ctr">
              <a:lnSpc>
                <a:spcPts val="196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Group 3:</a:t>
            </a:r>
            <a:br>
              <a:rPr lang="en-US" sz="105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</a:br>
            <a:r>
              <a:rPr lang="en-US" sz="105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Sagi Hanesh Varma &amp; Sai Samin Varma Pusapati</a:t>
            </a:r>
            <a:endParaRPr lang="en-US" sz="1050" dirty="0"/>
          </a:p>
          <a:p>
            <a:pPr marL="0" indent="0" algn="ctr">
              <a:lnSpc>
                <a:spcPts val="196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7515" y="815340"/>
            <a:ext cx="8256270" cy="4025900"/>
          </a:xfrm>
          <a:prstGeom prst="rect">
            <a:avLst/>
          </a:prstGeom>
          <a:solidFill>
            <a:schemeClr val="bg2"/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184150"/>
            <a:ext cx="8083550" cy="5403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Introduction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85825" y="1476375"/>
            <a:ext cx="7568375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8335" y="974725"/>
            <a:ext cx="7657465" cy="38284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b="1" dirty="0"/>
              <a:t>Phase 1: Diagnostic (EDA)</a:t>
            </a:r>
            <a:br>
              <a:rPr lang="en-US" b="1" dirty="0"/>
            </a:br>
            <a:endParaRPr lang="en-US" dirty="0"/>
          </a:p>
          <a:p>
            <a:pPr lvl="1">
              <a:lnSpc>
                <a:spcPct val="110000"/>
              </a:lnSpc>
            </a:pPr>
            <a:r>
              <a:rPr lang="en-US" b="1" dirty="0"/>
              <a:t>RQ1 (Academic):</a:t>
            </a:r>
            <a:r>
              <a:rPr lang="en-US" dirty="0"/>
              <a:t> How do </a:t>
            </a:r>
            <a:r>
              <a:rPr lang="en-US" b="1" dirty="0"/>
              <a:t>Approved Units in the 1st Semester</a:t>
            </a:r>
            <a:r>
              <a:rPr lang="en-US" dirty="0"/>
              <a:t> vary by final outcome?</a:t>
            </a:r>
          </a:p>
          <a:p>
            <a:pPr lvl="1">
              <a:lnSpc>
                <a:spcPct val="110000"/>
              </a:lnSpc>
            </a:pPr>
            <a:r>
              <a:rPr lang="en-US" b="1" dirty="0"/>
              <a:t>RQ2 (Financial):</a:t>
            </a:r>
            <a:r>
              <a:rPr lang="en-US" dirty="0"/>
              <a:t> What is the success rate based on </a:t>
            </a:r>
            <a:r>
              <a:rPr lang="en-US" b="1" dirty="0"/>
              <a:t>Financial Risk Profile</a:t>
            </a:r>
            <a:r>
              <a:rPr lang="en-US" dirty="0"/>
              <a:t> (Tuition &amp; Scholarship)?</a:t>
            </a:r>
          </a:p>
          <a:p>
            <a:pPr lvl="1">
              <a:lnSpc>
                <a:spcPct val="110000"/>
              </a:lnSpc>
            </a:pPr>
            <a:r>
              <a:rPr lang="en-US" b="1" dirty="0"/>
              <a:t>RQ3 (Demographic):</a:t>
            </a:r>
            <a:r>
              <a:rPr lang="en-US" dirty="0"/>
              <a:t> Do </a:t>
            </a:r>
            <a:r>
              <a:rPr lang="en-US" b="1" dirty="0"/>
              <a:t>Age and Admission Grades</a:t>
            </a:r>
            <a:r>
              <a:rPr lang="en-US" dirty="0"/>
              <a:t> significantly differentiate dropouts from graduates?</a:t>
            </a:r>
          </a:p>
          <a:p>
            <a:pPr lvl="1"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r>
              <a:rPr lang="en-US" b="1" dirty="0"/>
              <a:t>Phase 2: Predictive (Modeling)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b="1" dirty="0"/>
              <a:t>RQ4 (The Solution):</a:t>
            </a:r>
            <a:r>
              <a:rPr lang="en-US" dirty="0"/>
              <a:t> Can Machine Learning accurately predict at-risk students in real-time?</a:t>
            </a:r>
          </a:p>
          <a:p>
            <a:endParaRPr lang="en-US" dirty="0"/>
          </a:p>
          <a:p>
            <a:pPr marL="0" indent="0">
              <a:lnSpc>
                <a:spcPts val="2430"/>
              </a:lnSpc>
              <a:buNone/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885825" y="1954530"/>
            <a:ext cx="7419975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1114425" y="4067175"/>
            <a:ext cx="7191375" cy="13293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>
              <a:lnSpc>
                <a:spcPts val="2590"/>
              </a:lnSpc>
              <a:buSzPct val="100000"/>
              <a:buNone/>
            </a:pP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884555"/>
            <a:ext cx="7924800" cy="4000500"/>
          </a:xfrm>
          <a:prstGeom prst="rect">
            <a:avLst/>
          </a:prstGeom>
          <a:solidFill>
            <a:schemeClr val="bg2"/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18440"/>
            <a:ext cx="8083550" cy="8007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0284C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Data Overview (Data Structure)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04545" y="1019175"/>
            <a:ext cx="7571105" cy="8001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04545" y="1020445"/>
            <a:ext cx="7571105" cy="2346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b="1" dirty="0"/>
              <a:t>The Dataset</a:t>
            </a:r>
          </a:p>
          <a:p>
            <a:pPr>
              <a:lnSpc>
                <a:spcPct val="120000"/>
              </a:lnSpc>
            </a:pPr>
            <a:r>
              <a:rPr lang="en-US" b="1" dirty="0"/>
              <a:t>Source:</a:t>
            </a:r>
            <a:r>
              <a:rPr lang="en-US" dirty="0"/>
              <a:t> Student Academic Performance Dataset </a:t>
            </a:r>
            <a:r>
              <a:rPr lang="en-US" altLang="en-US" dirty="0"/>
              <a:t>from UCI Machine</a:t>
            </a:r>
            <a:br>
              <a:rPr lang="en-US" altLang="en-US" dirty="0"/>
            </a:br>
            <a:r>
              <a:rPr lang="en-US" altLang="en-US" dirty="0"/>
              <a:t>              Learning Repository</a:t>
            </a:r>
          </a:p>
          <a:p>
            <a:pPr>
              <a:lnSpc>
                <a:spcPct val="120000"/>
              </a:lnSpc>
            </a:pPr>
            <a:r>
              <a:rPr lang="en-US" b="1" dirty="0"/>
              <a:t>Volume:</a:t>
            </a:r>
            <a:r>
              <a:rPr lang="en-US" dirty="0"/>
              <a:t> 4,424 Student Records</a:t>
            </a:r>
          </a:p>
          <a:p>
            <a:pPr>
              <a:lnSpc>
                <a:spcPct val="120000"/>
              </a:lnSpc>
            </a:pPr>
            <a:r>
              <a:rPr lang="en-US" b="1" dirty="0"/>
              <a:t>36 Features Across 3 Categories: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b="1" dirty="0"/>
              <a:t>Demographic:</a:t>
            </a:r>
            <a:r>
              <a:rPr lang="en-US" dirty="0"/>
              <a:t> Age, Gender, Nationality</a:t>
            </a:r>
          </a:p>
          <a:p>
            <a:pPr lvl="1">
              <a:lnSpc>
                <a:spcPct val="120000"/>
              </a:lnSpc>
            </a:pPr>
            <a:r>
              <a:rPr lang="en-US" b="1" dirty="0"/>
              <a:t>Socio-Economic:</a:t>
            </a:r>
            <a:r>
              <a:rPr lang="en-US" dirty="0"/>
              <a:t> GDP, Inflation, Scholarship Status</a:t>
            </a:r>
          </a:p>
          <a:p>
            <a:pPr lvl="1">
              <a:lnSpc>
                <a:spcPct val="120000"/>
              </a:lnSpc>
            </a:pPr>
            <a:r>
              <a:rPr lang="en-US" b="1" dirty="0"/>
              <a:t>Academic:</a:t>
            </a:r>
            <a:r>
              <a:rPr lang="en-US" dirty="0"/>
              <a:t> Grades (1st &amp; 2nd Sem), Tuition Status</a:t>
            </a:r>
          </a:p>
          <a:p>
            <a:pPr marL="0" indent="0">
              <a:lnSpc>
                <a:spcPts val="2240"/>
              </a:lnSpc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214120"/>
            <a:ext cx="7461250" cy="10242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endParaRPr lang="en-US" sz="1200" dirty="0">
              <a:solidFill>
                <a:srgbClr val="475569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  <a:p>
            <a:pPr marL="0" indent="0">
              <a:lnSpc>
                <a:spcPts val="2240"/>
              </a:lnSpc>
              <a:buNone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545" y="3100070"/>
            <a:ext cx="7571105" cy="4768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04545" y="3576955"/>
            <a:ext cx="7571105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786188"/>
            <a:ext cx="7461504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995738"/>
            <a:ext cx="7461504" cy="2095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76200"/>
            <a:ext cx="8083550" cy="553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94055" y="2449830"/>
            <a:ext cx="7620000" cy="16912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endParaRPr lang="en-US" sz="1350" dirty="0"/>
          </a:p>
        </p:txBody>
      </p:sp>
      <p:sp>
        <p:nvSpPr>
          <p:cNvPr id="6" name="Text 0"/>
          <p:cNvSpPr/>
          <p:nvPr/>
        </p:nvSpPr>
        <p:spPr>
          <a:xfrm>
            <a:off x="609600" y="377825"/>
            <a:ext cx="7914640" cy="4368165"/>
          </a:xfrm>
          <a:prstGeom prst="rect">
            <a:avLst/>
          </a:prstGeom>
          <a:solidFill>
            <a:schemeClr val="bg2"/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Box 6"/>
          <p:cNvSpPr txBox="1"/>
          <p:nvPr/>
        </p:nvSpPr>
        <p:spPr>
          <a:xfrm>
            <a:off x="694055" y="628015"/>
            <a:ext cx="5570220" cy="30416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b="1" dirty="0"/>
              <a:t>Target Variable &amp; Key Insights</a:t>
            </a:r>
          </a:p>
          <a:p>
            <a:pPr>
              <a:lnSpc>
                <a:spcPct val="110000"/>
              </a:lnSpc>
            </a:pPr>
            <a:r>
              <a:rPr lang="en-US" b="1" dirty="0"/>
              <a:t>Target Classes: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b="1" dirty="0"/>
              <a:t>Graduate:</a:t>
            </a:r>
            <a:r>
              <a:rPr lang="en-US" dirty="0"/>
              <a:t> Majority class</a:t>
            </a:r>
          </a:p>
          <a:p>
            <a:pPr lvl="1">
              <a:lnSpc>
                <a:spcPct val="110000"/>
              </a:lnSpc>
            </a:pPr>
            <a:r>
              <a:rPr lang="en-US" b="1" dirty="0"/>
              <a:t>Dropout:</a:t>
            </a:r>
            <a:r>
              <a:rPr lang="en-US" dirty="0"/>
              <a:t> Significant portion (Primary concern)</a:t>
            </a:r>
          </a:p>
          <a:p>
            <a:pPr lvl="1">
              <a:lnSpc>
                <a:spcPct val="110000"/>
              </a:lnSpc>
            </a:pPr>
            <a:r>
              <a:rPr lang="en-US" b="1" dirty="0"/>
              <a:t>Enrolled:</a:t>
            </a:r>
            <a:r>
              <a:rPr lang="en-US" dirty="0"/>
              <a:t> Minority class</a:t>
            </a:r>
          </a:p>
          <a:p>
            <a:pPr>
              <a:lnSpc>
                <a:spcPct val="110000"/>
              </a:lnSpc>
            </a:pPr>
            <a:r>
              <a:rPr lang="en-US" b="1" dirty="0"/>
              <a:t>Initial Findings: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dirty="0"/>
              <a:t>High correlation between </a:t>
            </a:r>
            <a:r>
              <a:rPr lang="en-US" b="1" dirty="0"/>
              <a:t>Tuition Fee Payment</a:t>
            </a:r>
            <a:r>
              <a:rPr lang="en-US" dirty="0"/>
              <a:t> and retention.</a:t>
            </a:r>
          </a:p>
          <a:p>
            <a:pPr lvl="1">
              <a:lnSpc>
                <a:spcPct val="110000"/>
              </a:lnSpc>
            </a:pPr>
            <a:r>
              <a:rPr lang="en-US" b="1" dirty="0"/>
              <a:t>2nd Semester Performance</a:t>
            </a:r>
            <a:r>
              <a:rPr lang="en-US" dirty="0"/>
              <a:t> is a critical milestone.</a:t>
            </a:r>
          </a:p>
          <a:p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50" y="69215"/>
            <a:ext cx="7797800" cy="498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97535" y="359410"/>
            <a:ext cx="7629525" cy="17907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RQ1 - Approved Units in 1st Semester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Approved Units in 1st Semester by Final Outcome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19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059" name="Group 2058"/>
          <p:cNvGrpSpPr>
            <a:grpSpLocks noGrp="1" noUngrp="1" noRot="1" noChangeAspect="1" noMove="1" noResize="1"/>
          </p:cNvGrpSpPr>
          <p:nvPr/>
        </p:nvGrpSpPr>
        <p:grpSpPr>
          <a:xfrm>
            <a:off x="-2" y="2238744"/>
            <a:ext cx="548639" cy="505095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060" name="Rectangle 2059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1" name="Rectangle 2060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2" name="Rectangle 2061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64" name="Rectangle 206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759825" y="0"/>
            <a:ext cx="384175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A graph with multiple colored squares&#10;&#10;AI-generated content may be incorrect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42715" y="1296035"/>
            <a:ext cx="4606925" cy="295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4"/>
          <p:cNvSpPr/>
          <p:nvPr/>
        </p:nvSpPr>
        <p:spPr>
          <a:xfrm>
            <a:off x="725514" y="1296229"/>
            <a:ext cx="3005915" cy="26911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The boxplot shows a distinct gap. Dropouts (Red) have a median near zero for approved units.</a:t>
            </a:r>
          </a:p>
          <a:p>
            <a:pPr indent="0">
              <a:buFont typeface="Wingdings" panose="05000000000000000000" pitchFamily="2" charset="2"/>
              <a:buNone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Students approving fewer than 50% of units in Sem 1 are at immediate risk.</a:t>
            </a:r>
          </a:p>
        </p:txBody>
      </p:sp>
      <p:sp>
        <p:nvSpPr>
          <p:cNvPr id="8" name="Text 6"/>
          <p:cNvSpPr/>
          <p:nvPr/>
        </p:nvSpPr>
        <p:spPr>
          <a:xfrm>
            <a:off x="885826" y="1954529"/>
            <a:ext cx="2812744" cy="28521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1114425" y="4067175"/>
            <a:ext cx="7191375" cy="13293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>
              <a:lnSpc>
                <a:spcPts val="2590"/>
              </a:lnSpc>
              <a:buSzPct val="100000"/>
              <a:buNone/>
            </a:pP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97535" y="301625"/>
            <a:ext cx="7546975" cy="8572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b="1" dirty="0"/>
              <a:t>RQ2 - Financial Risk Profile</a:t>
            </a:r>
          </a:p>
          <a:p>
            <a:pPr algn="just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dirty="0"/>
              <a:t>Mean 1st Sem Success Rate by Financial Risk Profile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19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85825" y="1476375"/>
            <a:ext cx="7568375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26440" y="1575435"/>
            <a:ext cx="3845560" cy="34956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b="1" dirty="0"/>
              <a:t>Tuition Impact:</a:t>
            </a:r>
            <a:r>
              <a:rPr lang="en-US" sz="1600" dirty="0"/>
              <a:t> Students with 'Late/Missing' tuition (Left bars) have drastically lower success rates.</a:t>
            </a:r>
          </a:p>
          <a:p>
            <a:pPr indent="0" algn="just">
              <a:buFont typeface="Wingdings" panose="05000000000000000000" pitchFamily="2" charset="2"/>
              <a:buNone/>
            </a:pPr>
            <a:endParaRPr lang="en-US" sz="16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b="1" dirty="0"/>
              <a:t>Scholarship Buffer:</a:t>
            </a:r>
            <a:r>
              <a:rPr lang="en-US" sz="1600" dirty="0"/>
              <a:t> Scholarship holders (Orange) consistently outperform non-holders, even within the same tuition status.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5826" y="1954529"/>
            <a:ext cx="2812744" cy="28521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1114425" y="4067175"/>
            <a:ext cx="7191375" cy="13293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>
              <a:lnSpc>
                <a:spcPts val="2590"/>
              </a:lnSpc>
              <a:buSzPct val="100000"/>
              <a:buNone/>
            </a:pPr>
            <a:endParaRPr lang="en-US" sz="108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9800" y="1461770"/>
            <a:ext cx="3931920" cy="2253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4" name="Rectangle 206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779510" y="0"/>
            <a:ext cx="36449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59" name="Group 2058"/>
          <p:cNvGrpSpPr>
            <a:grpSpLocks noGrp="1" noUngrp="1" noRot="1" noChangeAspect="1" noMove="1" noResize="1"/>
          </p:cNvGrpSpPr>
          <p:nvPr/>
        </p:nvGrpSpPr>
        <p:grpSpPr>
          <a:xfrm>
            <a:off x="-2" y="2238744"/>
            <a:ext cx="548639" cy="505095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060" name="Rectangle 2059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1" name="Rectangle 2060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2" name="Rectangle 2061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164465"/>
            <a:ext cx="7503160" cy="1007110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b="1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b="1">
                <a:latin typeface="+mj-lt"/>
                <a:ea typeface="+mj-ea"/>
                <a:cs typeface="+mj-cs"/>
              </a:rPr>
              <a:t>RQ3 - Demographic &amp; Academic Profile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>
                <a:latin typeface="+mj-lt"/>
                <a:ea typeface="+mj-ea"/>
                <a:cs typeface="+mj-cs"/>
              </a:rPr>
              <a:t>Demographic &amp; Academic Preparation Profile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>
              <a:latin typeface="+mj-lt"/>
              <a:ea typeface="+mj-ea"/>
              <a:cs typeface="+mj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0085" y="1003935"/>
            <a:ext cx="7727950" cy="1329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85750">
              <a:lnSpc>
                <a:spcPct val="90000"/>
              </a:lnSpc>
              <a:spcAft>
                <a:spcPts val="600"/>
              </a:spcAft>
              <a:buFont typeface="Wingdings" panose="05000000000000000000" charset="0"/>
              <a:buChar char=""/>
            </a:pPr>
            <a:r>
              <a:rPr lang="en-US" sz="1500" b="1" dirty="0"/>
              <a:t>Age Distribution (Violin 1):</a:t>
            </a:r>
            <a:r>
              <a:rPr lang="en-US" sz="1500" dirty="0"/>
              <a:t> Dropouts (Red) show a wider distribution into older ages (delayed enrollment).</a:t>
            </a:r>
          </a:p>
          <a:p>
            <a:pPr marL="342900" indent="-285750">
              <a:lnSpc>
                <a:spcPct val="90000"/>
              </a:lnSpc>
              <a:spcAft>
                <a:spcPts val="600"/>
              </a:spcAft>
              <a:buFont typeface="Wingdings" panose="05000000000000000000" charset="0"/>
              <a:buChar char=""/>
            </a:pPr>
            <a:r>
              <a:rPr lang="en-US" sz="1500" b="1" dirty="0"/>
              <a:t>Admission Grade (Violin 2):</a:t>
            </a:r>
            <a:r>
              <a:rPr lang="en-US" sz="1500" dirty="0"/>
              <a:t> Distributions are surprisingly similar—high school grades are </a:t>
            </a:r>
            <a:r>
              <a:rPr lang="en-US" sz="1500" i="1" dirty="0"/>
              <a:t>not</a:t>
            </a:r>
            <a:r>
              <a:rPr lang="en-US" sz="1500" dirty="0"/>
              <a:t> a strong differentiator.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90204" pitchFamily="34" charset="0"/>
              <a:buChar char="•"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85826" y="1954529"/>
            <a:ext cx="2812744" cy="28521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430"/>
              </a:lnSpc>
              <a:buNone/>
            </a:pP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1114425" y="4067175"/>
            <a:ext cx="7191375" cy="13293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>
              <a:lnSpc>
                <a:spcPts val="2590"/>
              </a:lnSpc>
              <a:buSzPct val="100000"/>
              <a:buNone/>
            </a:pPr>
            <a:endParaRPr lang="en-US" sz="1080" dirty="0"/>
          </a:p>
        </p:txBody>
      </p:sp>
      <p:pic>
        <p:nvPicPr>
          <p:cNvPr id="4106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425" y="2157730"/>
            <a:ext cx="6798310" cy="290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4" name="Rectangle 206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8807450" y="0"/>
            <a:ext cx="33655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59" name="Group 2058"/>
          <p:cNvGrpSpPr>
            <a:grpSpLocks noGrp="1" noUngrp="1" noRot="1" noChangeAspect="1" noMove="1" noResize="1"/>
          </p:cNvGrpSpPr>
          <p:nvPr/>
        </p:nvGrpSpPr>
        <p:grpSpPr>
          <a:xfrm>
            <a:off x="-2" y="2238744"/>
            <a:ext cx="548639" cy="505095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060" name="Rectangle 2059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1" name="Rectangle 2060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2" name="Rectangle 2061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76200"/>
            <a:ext cx="8083550" cy="553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4320"/>
              </a:lnSpc>
            </a:pPr>
            <a:r>
              <a:rPr lang="en-US" sz="2800" b="1" dirty="0"/>
              <a:t>Methods (Process)</a:t>
            </a:r>
          </a:p>
          <a:p>
            <a:pPr marL="0" indent="0">
              <a:lnSpc>
                <a:spcPts val="4320"/>
              </a:lnSpc>
              <a:buNone/>
            </a:pP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94055" y="2449830"/>
            <a:ext cx="7620000" cy="16912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endParaRPr lang="en-US" sz="1350" dirty="0"/>
          </a:p>
        </p:txBody>
      </p:sp>
      <p:sp>
        <p:nvSpPr>
          <p:cNvPr id="6" name="Text 0"/>
          <p:cNvSpPr/>
          <p:nvPr/>
        </p:nvSpPr>
        <p:spPr>
          <a:xfrm>
            <a:off x="346710" y="630236"/>
            <a:ext cx="8314055" cy="4267835"/>
          </a:xfrm>
          <a:prstGeom prst="rect">
            <a:avLst/>
          </a:prstGeom>
          <a:solidFill>
            <a:schemeClr val="bg2"/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Box 6"/>
          <p:cNvSpPr txBox="1"/>
          <p:nvPr/>
        </p:nvSpPr>
        <p:spPr>
          <a:xfrm>
            <a:off x="450851" y="629920"/>
            <a:ext cx="3554781" cy="3813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From Observation to Prediction</a:t>
            </a:r>
          </a:p>
          <a:p>
            <a:pPr indent="0">
              <a:lnSpc>
                <a:spcPct val="110000"/>
              </a:lnSpc>
              <a:buFont typeface="Wingdings" panose="05000000000000000000" charset="0"/>
              <a:buNone/>
            </a:pPr>
            <a:r>
              <a:rPr lang="en-US" sz="1400" b="1" dirty="0"/>
              <a:t>Step 1: Addressing Imbalance</a:t>
            </a:r>
            <a:endParaRPr lang="en-US" sz="1400" dirty="0"/>
          </a:p>
          <a:p>
            <a:pPr marL="742950" lvl="1" indent="-285750">
              <a:lnSpc>
                <a:spcPct val="110000"/>
              </a:lnSpc>
              <a:buFont typeface="Wingdings" panose="05000000000000000000" charset="0"/>
              <a:buChar char=""/>
            </a:pPr>
            <a:r>
              <a:rPr lang="en-US" sz="1400" dirty="0"/>
              <a:t>Technique: </a:t>
            </a:r>
            <a:r>
              <a:rPr lang="en-US" sz="1400" b="1" dirty="0"/>
              <a:t>Hybrid SMOTE-ENN + Targeted Oversampling</a:t>
            </a:r>
            <a:r>
              <a:rPr lang="en-US" sz="1400" dirty="0"/>
              <a:t>.</a:t>
            </a:r>
          </a:p>
          <a:p>
            <a:pPr lvl="1" indent="0">
              <a:lnSpc>
                <a:spcPct val="110000"/>
              </a:lnSpc>
              <a:buFont typeface="Wingdings" panose="05000000000000000000" charset="0"/>
              <a:buNone/>
            </a:pPr>
            <a:endParaRPr lang="en-US" sz="1400" dirty="0"/>
          </a:p>
          <a:p>
            <a:pPr indent="0">
              <a:lnSpc>
                <a:spcPct val="110000"/>
              </a:lnSpc>
              <a:buFont typeface="Wingdings" panose="05000000000000000000" charset="0"/>
              <a:buNone/>
            </a:pPr>
            <a:r>
              <a:rPr lang="en-US" sz="1400" b="1" dirty="0"/>
              <a:t>Step 2: Hyperparameter Optimization</a:t>
            </a:r>
            <a:endParaRPr lang="en-US" sz="1400" dirty="0"/>
          </a:p>
          <a:p>
            <a:pPr marL="742950" lvl="1" indent="-285750">
              <a:lnSpc>
                <a:spcPct val="110000"/>
              </a:lnSpc>
              <a:buFont typeface="Wingdings" panose="05000000000000000000" charset="0"/>
              <a:buChar char=""/>
            </a:pPr>
            <a:r>
              <a:rPr lang="en-US" sz="1400" dirty="0"/>
              <a:t>Tested: </a:t>
            </a:r>
            <a:r>
              <a:rPr lang="en-US" sz="1400" b="1" dirty="0" err="1"/>
              <a:t>RandomizedSearchCV</a:t>
            </a:r>
            <a:r>
              <a:rPr lang="en-US" sz="1400" dirty="0"/>
              <a:t> vs. </a:t>
            </a:r>
            <a:r>
              <a:rPr lang="en-US" sz="1400" b="1" dirty="0" err="1"/>
              <a:t>GridSearchCV</a:t>
            </a:r>
            <a:r>
              <a:rPr lang="en-US" sz="1400" dirty="0"/>
              <a:t>.</a:t>
            </a:r>
          </a:p>
          <a:p>
            <a:pPr marL="742950" lvl="1" indent="-285750">
              <a:lnSpc>
                <a:spcPct val="110000"/>
              </a:lnSpc>
              <a:buFont typeface="Wingdings" panose="05000000000000000000" charset="0"/>
              <a:buChar char=""/>
            </a:pPr>
            <a:r>
              <a:rPr lang="en-US" sz="1400" i="1" dirty="0"/>
              <a:t>Result:</a:t>
            </a:r>
            <a:r>
              <a:rPr lang="en-US" sz="1400" dirty="0"/>
              <a:t> </a:t>
            </a:r>
            <a:r>
              <a:rPr lang="en-US" sz="1400" dirty="0" err="1"/>
              <a:t>RandomizedSearch</a:t>
            </a:r>
            <a:r>
              <a:rPr lang="en-US" sz="1400" dirty="0"/>
              <a:t> outperformed </a:t>
            </a:r>
            <a:r>
              <a:rPr lang="en-US" sz="1400" dirty="0" err="1"/>
              <a:t>GridSearch</a:t>
            </a:r>
            <a:r>
              <a:rPr lang="en-US" sz="1400" dirty="0"/>
              <a:t> (F1: 0.723 vs 0.693).</a:t>
            </a:r>
          </a:p>
          <a:p>
            <a:pPr marL="742950" lvl="1" indent="-285750">
              <a:lnSpc>
                <a:spcPct val="110000"/>
              </a:lnSpc>
              <a:buFont typeface="Wingdings" panose="05000000000000000000" charset="0"/>
              <a:buChar char=""/>
            </a:pPr>
            <a:r>
              <a:rPr lang="en-US" sz="1400" i="1" dirty="0"/>
              <a:t>Best Params:</a:t>
            </a:r>
            <a:r>
              <a:rPr lang="en-US" sz="1400" dirty="0"/>
              <a:t> Max Depth: 6, Criterion: Gini, Class Weight: Balanced.</a:t>
            </a:r>
          </a:p>
          <a:p>
            <a:endParaRPr lang="en-US" sz="1400" dirty="0"/>
          </a:p>
          <a:p>
            <a:endParaRPr lang="en-US" sz="1400" dirty="0"/>
          </a:p>
        </p:txBody>
      </p:sp>
      <p:pic>
        <p:nvPicPr>
          <p:cNvPr id="5" name="Picture 4" descr="Screenshot 2025-11-28 at 8.57.11 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660" y="1480185"/>
            <a:ext cx="4450080" cy="21824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76200"/>
            <a:ext cx="8083550" cy="553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4320"/>
              </a:lnSpc>
            </a:pPr>
            <a:r>
              <a:rPr lang="en-US" sz="2800" b="1" dirty="0"/>
              <a:t>Results (Model Evolution &amp; Performance)</a:t>
            </a:r>
          </a:p>
          <a:p>
            <a:pPr marL="0" indent="0">
              <a:lnSpc>
                <a:spcPts val="4320"/>
              </a:lnSpc>
              <a:buNone/>
            </a:pP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94055" y="2449830"/>
            <a:ext cx="7620000" cy="16912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endParaRPr lang="en-US" sz="1350" dirty="0"/>
          </a:p>
        </p:txBody>
      </p:sp>
      <p:sp>
        <p:nvSpPr>
          <p:cNvPr id="6" name="Text 0"/>
          <p:cNvSpPr/>
          <p:nvPr/>
        </p:nvSpPr>
        <p:spPr>
          <a:xfrm>
            <a:off x="342900" y="614680"/>
            <a:ext cx="8580755" cy="4222115"/>
          </a:xfrm>
          <a:prstGeom prst="rect">
            <a:avLst/>
          </a:prstGeom>
          <a:solidFill>
            <a:schemeClr val="bg2"/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Box 6"/>
          <p:cNvSpPr txBox="1"/>
          <p:nvPr/>
        </p:nvSpPr>
        <p:spPr>
          <a:xfrm>
            <a:off x="572453" y="933478"/>
            <a:ext cx="3859581" cy="3291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Model Evolution:</a:t>
            </a:r>
            <a:endParaRPr lang="en-US" dirty="0"/>
          </a:p>
          <a:p>
            <a:pPr lvl="1"/>
            <a:r>
              <a:rPr lang="en-US" b="1" dirty="0"/>
              <a:t>Base Model:</a:t>
            </a:r>
            <a:r>
              <a:rPr lang="en-US" dirty="0"/>
              <a:t> F1 0.662</a:t>
            </a:r>
          </a:p>
          <a:p>
            <a:pPr lvl="1"/>
            <a:r>
              <a:rPr lang="en-US" b="1" dirty="0"/>
              <a:t>Model with SMOTE:</a:t>
            </a:r>
            <a:r>
              <a:rPr lang="en-US" dirty="0"/>
              <a:t> F1 0.662</a:t>
            </a:r>
          </a:p>
          <a:p>
            <a:pPr lvl="1"/>
            <a:r>
              <a:rPr lang="en-US" b="1" dirty="0"/>
              <a:t>Model with Random search:</a:t>
            </a:r>
            <a:r>
              <a:rPr lang="en-US" dirty="0"/>
              <a:t> F1 0.723 (</a:t>
            </a:r>
            <a:r>
              <a:rPr lang="en-US" b="1" dirty="0"/>
              <a:t>+6.1% Total Improvement</a:t>
            </a:r>
            <a:r>
              <a:rPr lang="en-US" dirty="0"/>
              <a:t>)</a:t>
            </a:r>
          </a:p>
          <a:p>
            <a:r>
              <a:rPr lang="en-US" b="1" dirty="0"/>
              <a:t>Final Performance:</a:t>
            </a:r>
            <a:endParaRPr lang="en-US" dirty="0"/>
          </a:p>
          <a:p>
            <a:pPr lvl="1"/>
            <a:r>
              <a:rPr lang="en-US" b="1" dirty="0"/>
              <a:t>Accuracy:</a:t>
            </a:r>
            <a:r>
              <a:rPr lang="en-US" dirty="0"/>
              <a:t> 71.99%</a:t>
            </a:r>
          </a:p>
          <a:p>
            <a:pPr lvl="1"/>
            <a:r>
              <a:rPr lang="en-US" b="1" dirty="0"/>
              <a:t>Decision Threshold:</a:t>
            </a:r>
            <a:r>
              <a:rPr lang="en-US" dirty="0"/>
              <a:t> Shifted to </a:t>
            </a:r>
            <a:r>
              <a:rPr lang="en-US" b="1" dirty="0"/>
              <a:t>0.613</a:t>
            </a:r>
            <a:r>
              <a:rPr lang="en-US" dirty="0"/>
              <a:t> (Standard is 0.5).</a:t>
            </a:r>
          </a:p>
          <a:p>
            <a:endParaRPr lang="en-US" sz="1400" dirty="0"/>
          </a:p>
          <a:p>
            <a:endParaRPr lang="en-US" sz="1400" dirty="0"/>
          </a:p>
        </p:txBody>
      </p:sp>
      <p:pic>
        <p:nvPicPr>
          <p:cNvPr id="4" name="Picture 3" descr="Screenshot 2025-11-28 at 7.46.14 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550" y="1091565"/>
            <a:ext cx="4432935" cy="26987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/>
          <p:cNvSpPr/>
          <p:nvPr/>
        </p:nvSpPr>
        <p:spPr>
          <a:xfrm>
            <a:off x="220345" y="473710"/>
            <a:ext cx="8703310" cy="4363085"/>
          </a:xfrm>
          <a:prstGeom prst="rect">
            <a:avLst/>
          </a:prstGeom>
          <a:solidFill>
            <a:schemeClr val="bg2"/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" name="Text Box 1"/>
          <p:cNvSpPr txBox="1"/>
          <p:nvPr/>
        </p:nvSpPr>
        <p:spPr>
          <a:xfrm>
            <a:off x="448310" y="110490"/>
            <a:ext cx="3573780" cy="363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b="1"/>
              <a:t>ROC Curve</a:t>
            </a:r>
          </a:p>
        </p:txBody>
      </p:sp>
      <p:pic>
        <p:nvPicPr>
          <p:cNvPr id="3" name="Picture 2" descr="Screenshot 2025-12-01 at 3.07.36 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9585" y="821690"/>
            <a:ext cx="4525645" cy="366712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421640" y="648335"/>
            <a:ext cx="3600450" cy="43630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Wingdings" panose="05000000000000000000" charset="0"/>
              <a:buChar char=""/>
            </a:pPr>
            <a:r>
              <a:rPr lang="en-US" altLang="en-US" dirty="0"/>
              <a:t>Despite the initial class imbalance, applying SMOTE oversampling combined with hyperparameter tuning significantly improved the Decision Tree model's ability to classify student outcomes.</a:t>
            </a:r>
          </a:p>
          <a:p>
            <a:pPr marL="285750" indent="-285750">
              <a:buFont typeface="Wingdings" panose="05000000000000000000" charset="0"/>
              <a:buChar char=""/>
            </a:pPr>
            <a:endParaRPr lang="en-US" altLang="en-US" dirty="0"/>
          </a:p>
          <a:p>
            <a:pPr marL="285750" indent="-285750">
              <a:buFont typeface="Wingdings" panose="05000000000000000000" charset="0"/>
              <a:buChar char=""/>
            </a:pPr>
            <a:r>
              <a:rPr lang="en-US" altLang="en-US" dirty="0"/>
              <a:t>Particularly enhancing the recall for the minority 'Enrolled' class, thus providing a more robust and fair predictive system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38760"/>
            <a:ext cx="8083550" cy="5645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4320"/>
              </a:lnSpc>
            </a:pPr>
            <a:r>
              <a:rPr lang="en-US" sz="2800" b="1" dirty="0"/>
              <a:t>Conclusions &amp; Recommendations</a:t>
            </a:r>
          </a:p>
          <a:p>
            <a:pPr marL="0" indent="0">
              <a:lnSpc>
                <a:spcPts val="4320"/>
              </a:lnSpc>
              <a:buNone/>
            </a:pP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 rot="21360000">
            <a:off x="914400" y="1247775"/>
            <a:ext cx="7620000" cy="16912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>
              <a:lnSpc>
                <a:spcPts val="3240"/>
              </a:lnSpc>
              <a:buSzPct val="100000"/>
              <a:buNone/>
            </a:pPr>
            <a:endParaRPr lang="en-US" sz="1350" dirty="0"/>
          </a:p>
        </p:txBody>
      </p:sp>
      <p:sp>
        <p:nvSpPr>
          <p:cNvPr id="6" name="Text 0"/>
          <p:cNvSpPr/>
          <p:nvPr/>
        </p:nvSpPr>
        <p:spPr>
          <a:xfrm>
            <a:off x="350520" y="911860"/>
            <a:ext cx="8528685" cy="4025900"/>
          </a:xfrm>
          <a:prstGeom prst="rect">
            <a:avLst/>
          </a:prstGeom>
          <a:solidFill>
            <a:schemeClr val="bg2"/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Box 3"/>
          <p:cNvSpPr txBox="1"/>
          <p:nvPr/>
        </p:nvSpPr>
        <p:spPr>
          <a:xfrm>
            <a:off x="609600" y="1137920"/>
            <a:ext cx="7574280" cy="29825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b="1" dirty="0"/>
              <a:t>Summary:</a:t>
            </a:r>
            <a:r>
              <a:rPr lang="en-US" dirty="0"/>
              <a:t> Retention is predictable and follows clear patterns.</a:t>
            </a:r>
          </a:p>
          <a:p>
            <a:r>
              <a:rPr lang="en-US" b="1" dirty="0"/>
              <a:t>Strategic Plan:</a:t>
            </a:r>
            <a:endParaRPr lang="en-US" dirty="0"/>
          </a:p>
          <a:p>
            <a:pPr lvl="1"/>
            <a:r>
              <a:rPr lang="en-US" b="1" dirty="0"/>
              <a:t>Financial:</a:t>
            </a:r>
            <a:r>
              <a:rPr lang="en-US" dirty="0"/>
              <a:t> Automated counseling triggers for late tuition (Addressing RQ2).</a:t>
            </a:r>
          </a:p>
          <a:p>
            <a:pPr lvl="1"/>
            <a:r>
              <a:rPr lang="en-US" b="1" dirty="0"/>
              <a:t>Academic:</a:t>
            </a:r>
            <a:r>
              <a:rPr lang="en-US" dirty="0"/>
              <a:t> Intervention for students with &lt;50% approved units in Sem 1 (Addressing RQ1).</a:t>
            </a:r>
          </a:p>
          <a:p>
            <a:pPr lvl="1"/>
            <a:r>
              <a:rPr lang="en-US" b="1" dirty="0"/>
              <a:t>Technical:</a:t>
            </a:r>
            <a:r>
              <a:rPr lang="en-US" dirty="0"/>
              <a:t> Deploy model to generate weekly "Risk Scores" (Addressing RQ4).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A65AE-3DD0-2672-EF81-713216BB3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631C259-BD9D-BC22-8FED-E2F1B1400EFE}"/>
              </a:ext>
            </a:extLst>
          </p:cNvPr>
          <p:cNvSpPr/>
          <p:nvPr/>
        </p:nvSpPr>
        <p:spPr>
          <a:xfrm>
            <a:off x="609600" y="238760"/>
            <a:ext cx="8083550" cy="5645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b="1"/>
              <a:t>REFERENCES</a:t>
            </a:r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5ECD633-4333-ABA2-0960-BC6D65655D63}"/>
              </a:ext>
            </a:extLst>
          </p:cNvPr>
          <p:cNvSpPr/>
          <p:nvPr/>
        </p:nvSpPr>
        <p:spPr>
          <a:xfrm rot="21360000">
            <a:off x="914400" y="1247775"/>
            <a:ext cx="7620000" cy="16912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>
              <a:lnSpc>
                <a:spcPts val="3240"/>
              </a:lnSpc>
              <a:buSzPct val="100000"/>
              <a:buNone/>
            </a:pPr>
            <a:endParaRPr lang="en-US" sz="135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0AA07037-C553-498A-0F50-CC0C463A1863}"/>
              </a:ext>
            </a:extLst>
          </p:cNvPr>
          <p:cNvSpPr/>
          <p:nvPr/>
        </p:nvSpPr>
        <p:spPr>
          <a:xfrm>
            <a:off x="350520" y="911860"/>
            <a:ext cx="8528685" cy="4025900"/>
          </a:xfrm>
          <a:prstGeom prst="rect">
            <a:avLst/>
          </a:prstGeom>
          <a:solidFill>
            <a:schemeClr val="bg2"/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F5004929-7280-F0CE-6251-D12F6529098B}"/>
              </a:ext>
            </a:extLst>
          </p:cNvPr>
          <p:cNvSpPr txBox="1"/>
          <p:nvPr/>
        </p:nvSpPr>
        <p:spPr>
          <a:xfrm>
            <a:off x="609600" y="1137920"/>
            <a:ext cx="7574280" cy="29825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dirty="0"/>
              <a:t>Martins, M. V., </a:t>
            </a:r>
            <a:r>
              <a:rPr lang="en-US" dirty="0" err="1"/>
              <a:t>Tolledo</a:t>
            </a:r>
            <a:r>
              <a:rPr lang="en-US" dirty="0"/>
              <a:t>, D., Machado, J., Baptista, L. M. T., &amp; </a:t>
            </a:r>
            <a:r>
              <a:rPr lang="en-US" dirty="0" err="1"/>
              <a:t>Realinho</a:t>
            </a:r>
            <a:r>
              <a:rPr lang="en-US" dirty="0"/>
              <a:t>, V. (2021). Early prediction of student's performance in higher education: A case study. </a:t>
            </a:r>
            <a:r>
              <a:rPr lang="en-US" i="1" dirty="0"/>
              <a:t>Trends and Applications in Information Systems and Technologies</a:t>
            </a:r>
            <a:r>
              <a:rPr lang="en-US" dirty="0"/>
              <a:t>, </a:t>
            </a:r>
            <a:r>
              <a:rPr lang="en-US" i="1" dirty="0"/>
              <a:t>1</a:t>
            </a:r>
            <a:r>
              <a:rPr lang="en-US" dirty="0"/>
              <a:t>, 176–185. _16</a:t>
            </a:r>
          </a:p>
          <a:p>
            <a:r>
              <a:rPr lang="en-US" dirty="0"/>
              <a:t> </a:t>
            </a:r>
          </a:p>
          <a:p>
            <a:r>
              <a:rPr lang="en-US" dirty="0" err="1"/>
              <a:t>Realinho</a:t>
            </a:r>
            <a:r>
              <a:rPr lang="en-US" dirty="0"/>
              <a:t>, V., Vieira Martins, M., Machado, J., &amp; Baptista, L. (2021). </a:t>
            </a:r>
            <a:r>
              <a:rPr lang="en-US" b="1" dirty="0"/>
              <a:t>Predict Students' Dropout and Academic Success</a:t>
            </a:r>
            <a:r>
              <a:rPr lang="en-US" dirty="0"/>
              <a:t> [Dataset]. UCI Machine Learning Repository.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950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4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19765" y="1719263"/>
            <a:ext cx="2504322" cy="542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76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080458" y="2490788"/>
            <a:ext cx="982935" cy="2667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615565" y="3062605"/>
            <a:ext cx="3988435" cy="3619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Data Mining with Information Visualization</a:t>
            </a:r>
            <a:endParaRPr lang="en-US" sz="1050" dirty="0"/>
          </a:p>
          <a:p>
            <a:pPr marL="0" indent="0" algn="ctr">
              <a:lnSpc>
                <a:spcPts val="196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University of Texas at Arlington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718</Words>
  <Application>Microsoft Macintosh PowerPoint</Application>
  <PresentationFormat>On-screen Show (16:9)</PresentationFormat>
  <Paragraphs>94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Sagi, Hanesh Varma</cp:lastModifiedBy>
  <cp:revision>10</cp:revision>
  <dcterms:created xsi:type="dcterms:W3CDTF">2025-12-01T21:13:04Z</dcterms:created>
  <dcterms:modified xsi:type="dcterms:W3CDTF">2026-06-22T17:21:41Z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351439EA323B0B7DDDFB2D69508A820C_43</vt:lpwstr>
  </property>
  <property fmtid="{D5CDD505-2E9C-101B-9397-08002B2CF9AE}" pid="3" name="KSOProductBuildVer">
    <vt:lpwstr>1033-12.1.22553.22553</vt:lpwstr>
  </property>
</Properties>
</file>